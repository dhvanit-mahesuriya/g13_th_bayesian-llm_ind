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3" r:id="rId2"/>
  </p:sldMasterIdLst>
  <p:notesMasterIdLst>
    <p:notesMasterId r:id="rId11"/>
  </p:notesMasterIdLst>
  <p:sldIdLst>
    <p:sldId id="263" r:id="rId3"/>
    <p:sldId id="257" r:id="rId4"/>
    <p:sldId id="258" r:id="rId5"/>
    <p:sldId id="259" r:id="rId6"/>
    <p:sldId id="260" r:id="rId7"/>
    <p:sldId id="261" r:id="rId8"/>
    <p:sldId id="262" r:id="rId9"/>
    <p:sldId id="27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47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54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83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0f4ca3a9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86" name="Google Shape;86;g3f0f4ca3a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0209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9793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9144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CSE 516 | Milestone 2 | Dhvanit Mahesuriya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445727" y="20002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436820" y="132671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857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1800"/>
            </a:lvl1pPr>
            <a:lvl2pPr marL="685800" lvl="1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150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350"/>
            </a:lvl3pPr>
            <a:lvl4pPr marL="1371600" lvl="3" indent="-2476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200"/>
            </a:lvl4pPr>
            <a:lvl5pPr marL="1714500" lvl="4" indent="-2476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20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25" name="Google Shape;25;p21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21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829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>
            <a:spLocks noGrp="1"/>
          </p:cNvSpPr>
          <p:nvPr>
            <p:ph type="title"/>
          </p:nvPr>
        </p:nvSpPr>
        <p:spPr>
          <a:xfrm>
            <a:off x="633113" y="2906106"/>
            <a:ext cx="7886700" cy="62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25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32199" y="1109547"/>
            <a:ext cx="3079602" cy="10107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4025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445727" y="20002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436820" y="132671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857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1800"/>
            </a:lvl1pPr>
            <a:lvl2pPr marL="685800" lvl="1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1500"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350"/>
            </a:lvl3pPr>
            <a:lvl4pPr marL="1371600" lvl="3" indent="-2476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200"/>
            </a:lvl4pPr>
            <a:lvl5pPr marL="1714500" lvl="4" indent="-2476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200"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25" name="Google Shape;25;p21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21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3384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405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15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1500">
                <a:solidFill>
                  <a:srgbClr val="888888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350">
                <a:solidFill>
                  <a:srgbClr val="888888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200">
                <a:solidFill>
                  <a:srgbClr val="888888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200">
                <a:solidFill>
                  <a:srgbClr val="888888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31" name="Google Shape;31;p22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22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875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23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3124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47" name="Google Shape;47;p24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24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102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52" name="Google Shape;52;p25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25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417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56" name="Google Shape;56;p26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26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8479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63" name="Google Shape;63;p27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27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2189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28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0921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76" name="Google Shape;76;p29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29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6459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82" name="Google Shape;82;p30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30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269111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5363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19"/>
          <p:cNvGrpSpPr/>
          <p:nvPr/>
        </p:nvGrpSpPr>
        <p:grpSpPr>
          <a:xfrm>
            <a:off x="0" y="5067300"/>
            <a:ext cx="9144000" cy="79122"/>
            <a:chOff x="0" y="6756400"/>
            <a:chExt cx="12192000" cy="105496"/>
          </a:xfrm>
        </p:grpSpPr>
        <p:pic>
          <p:nvPicPr>
            <p:cNvPr id="13" name="Google Shape;13;p1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9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9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102009" y="4713506"/>
            <a:ext cx="413341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 smtClean="0"/>
              <a:pPr/>
              <a:t>‹#›</a:t>
            </a:fld>
            <a:endParaRPr b="0"/>
          </a:p>
        </p:txBody>
      </p:sp>
      <p:sp>
        <p:nvSpPr>
          <p:cNvPr id="17" name="Google Shape;17;p19"/>
          <p:cNvSpPr txBox="1">
            <a:spLocks noGrp="1"/>
          </p:cNvSpPr>
          <p:nvPr>
            <p:ph type="dt" idx="10"/>
          </p:nvPr>
        </p:nvSpPr>
        <p:spPr>
          <a:xfrm>
            <a:off x="5943600" y="4713505"/>
            <a:ext cx="2158409" cy="28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91250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0f4ca3a9d_0_0"/>
          <p:cNvSpPr txBox="1">
            <a:spLocks noGrp="1"/>
          </p:cNvSpPr>
          <p:nvPr>
            <p:ph type="title"/>
          </p:nvPr>
        </p:nvSpPr>
        <p:spPr>
          <a:xfrm>
            <a:off x="1482214" y="2933390"/>
            <a:ext cx="5936225" cy="96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1">
            <a:noAutofit/>
          </a:bodyPr>
          <a:lstStyle/>
          <a:p>
            <a:pPr algn="ctr">
              <a:buSzPts val="2600"/>
            </a:pPr>
            <a: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Student: Dhvanit Mahesuriya</a:t>
            </a:r>
            <a:b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(AU2440039)</a:t>
            </a:r>
            <a:b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Programme: </a:t>
            </a:r>
            <a:r>
              <a:rPr lang="en-IN" sz="2000" b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CSE</a:t>
            </a:r>
            <a:b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Bayesian LLM reasoning</a:t>
            </a:r>
            <a:b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15</a:t>
            </a:r>
            <a:r>
              <a:rPr lang="en-IN" sz="2000" b="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IN" sz="20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October 2026</a:t>
            </a:r>
            <a:endParaRPr sz="2000" b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2600"/>
            </a:pPr>
            <a:r>
              <a:rPr lang="en-IN" sz="1988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88" b="0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algn="ctr">
              <a:buSzPts val="2600"/>
            </a:pPr>
            <a:endParaRPr sz="1400" b="0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g3f0f4ca3a9d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3840" y="509568"/>
            <a:ext cx="2163611" cy="7797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f0f4ca3a9d_0_0"/>
          <p:cNvSpPr txBox="1"/>
          <p:nvPr/>
        </p:nvSpPr>
        <p:spPr>
          <a:xfrm>
            <a:off x="0" y="4460180"/>
            <a:ext cx="9144000" cy="98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 defTabSz="685800">
              <a:lnSpc>
                <a:spcPct val="90000"/>
              </a:lnSpc>
              <a:buClr>
                <a:prstClr val="black"/>
              </a:buClr>
              <a:buSzPts val="800"/>
            </a:pPr>
            <a:endParaRPr sz="700" kern="0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685800">
              <a:lnSpc>
                <a:spcPct val="90000"/>
              </a:lnSpc>
              <a:buClr>
                <a:prstClr val="black"/>
              </a:buClr>
              <a:buSzPts val="800"/>
            </a:pPr>
            <a:r>
              <a:rPr lang="en-IN" sz="1200" kern="0" dirty="0" err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IN" sz="1200" kern="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Computer Science Engineering, School of Engineering and Applied Sciences </a:t>
            </a:r>
            <a:endParaRPr sz="1200" kern="0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685800">
              <a:lnSpc>
                <a:spcPct val="90000"/>
              </a:lnSpc>
              <a:buClr>
                <a:prstClr val="black"/>
              </a:buClr>
              <a:buSzPts val="800"/>
            </a:pPr>
            <a:endParaRPr sz="1200" kern="0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g3f0f4ca3a9d_0_0"/>
          <p:cNvSpPr txBox="1"/>
          <p:nvPr/>
        </p:nvSpPr>
        <p:spPr>
          <a:xfrm>
            <a:off x="2117272" y="1636086"/>
            <a:ext cx="4909500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defTabSz="685800">
              <a:buClr>
                <a:srgbClr val="000000"/>
              </a:buClr>
            </a:pPr>
            <a:r>
              <a:rPr lang="en-US" sz="1500" b="1" kern="0" dirty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IN" sz="1500" b="1" kern="0" dirty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SE516 Probabilistic Graphical Models</a:t>
            </a:r>
            <a:endParaRPr sz="1500" kern="0" dirty="0">
              <a:solidFill>
                <a:srgbClr val="7171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CAB81D5-5C76-337D-9ED3-C922081338F6}"/>
              </a:ext>
            </a:extLst>
          </p:cNvPr>
          <p:cNvSpPr txBox="1"/>
          <p:nvPr/>
        </p:nvSpPr>
        <p:spPr>
          <a:xfrm>
            <a:off x="439871" y="2027463"/>
            <a:ext cx="8161020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85800"/>
            <a:r>
              <a:rPr sz="2325" b="1" kern="0" dirty="0">
                <a:solidFill>
                  <a:srgbClr val="232323"/>
                </a:solidFill>
                <a:latin typeface="Aptos"/>
              </a:rPr>
              <a:t>Bayesian Reasoning for LLM Agents
under Uncertain and Conflicting Evidence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001A7E-E6F5-152D-2E3B-A1FFB81439FF}"/>
              </a:ext>
            </a:extLst>
          </p:cNvPr>
          <p:cNvSpPr txBox="1"/>
          <p:nvPr/>
        </p:nvSpPr>
        <p:spPr>
          <a:xfrm>
            <a:off x="-548640" y="46915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Base model: vPGM-N3 on ScienceQA</a:t>
            </a:r>
            <a:endParaRPr lang="en-US" sz="2400" dirty="0"/>
          </a:p>
        </p:txBody>
      </p:sp>
      <p:pic>
        <p:nvPicPr>
          <p:cNvPr id="3" name="vPGM-N3 diagram" descr="fig_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3749040" cy="3474720"/>
          </a:xfrm>
          <a:prstGeom prst="rect">
            <a:avLst/>
          </a:prstGeom>
        </p:spPr>
      </p:pic>
      <p:sp>
        <p:nvSpPr>
          <p:cNvPr id="4" name="Inputs card"/>
          <p:cNvSpPr/>
          <p:nvPr/>
        </p:nvSpPr>
        <p:spPr>
          <a:xfrm>
            <a:off x="4572000" y="1188720"/>
            <a:ext cx="411480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nputs accent"/>
          <p:cNvSpPr/>
          <p:nvPr/>
        </p:nvSpPr>
        <p:spPr>
          <a:xfrm>
            <a:off x="4572000" y="1188720"/>
            <a:ext cx="73152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Inputs text"/>
          <p:cNvSpPr txBox="1"/>
          <p:nvPr/>
        </p:nvSpPr>
        <p:spPr>
          <a:xfrm>
            <a:off x="4800600" y="12801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INPUTS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Q, C, M, I, K</a:t>
            </a:r>
            <a:endParaRPr lang="en-US" sz="1400" dirty="0"/>
          </a:p>
        </p:txBody>
      </p:sp>
      <p:sp>
        <p:nvSpPr>
          <p:cNvPr id="7" name="Hidden card"/>
          <p:cNvSpPr/>
          <p:nvPr/>
        </p:nvSpPr>
        <p:spPr>
          <a:xfrm>
            <a:off x="4572000" y="2194560"/>
            <a:ext cx="411480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Hidden accent"/>
          <p:cNvSpPr/>
          <p:nvPr/>
        </p:nvSpPr>
        <p:spPr>
          <a:xfrm>
            <a:off x="4572000" y="2194560"/>
            <a:ext cx="73152" cy="1051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idden text"/>
          <p:cNvSpPr txBox="1"/>
          <p:nvPr/>
        </p:nvSpPr>
        <p:spPr>
          <a:xfrm>
            <a:off x="4800600" y="22860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HIDDEN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Z1 knowledge needed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Z2 caption reliable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Z3 text reliable</a:t>
            </a:r>
            <a:endParaRPr lang="en-US" sz="1400" dirty="0"/>
          </a:p>
        </p:txBody>
      </p:sp>
      <p:sp>
        <p:nvSpPr>
          <p:cNvPr id="10" name="Output card"/>
          <p:cNvSpPr/>
          <p:nvPr/>
        </p:nvSpPr>
        <p:spPr>
          <a:xfrm>
            <a:off x="4572000" y="3383280"/>
            <a:ext cx="411480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utput accent"/>
          <p:cNvSpPr/>
          <p:nvPr/>
        </p:nvSpPr>
        <p:spPr>
          <a:xfrm>
            <a:off x="4572000" y="3383280"/>
            <a:ext cx="73152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Output text"/>
          <p:cNvSpPr txBox="1"/>
          <p:nvPr/>
        </p:nvSpPr>
        <p:spPr>
          <a:xfrm>
            <a:off x="480060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OUTPUT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Y from Q and Z1, Z2, Z3</a:t>
            </a:r>
            <a:endParaRPr lang="en-US" sz="1400" dirty="0"/>
          </a:p>
        </p:txBody>
      </p:sp>
      <p:sp>
        <p:nvSpPr>
          <p:cNvPr id="13" name="Fixed note"/>
          <p:cNvSpPr txBox="1"/>
          <p:nvPr/>
        </p:nvSpPr>
        <p:spPr>
          <a:xfrm>
            <a:off x="4572000" y="4370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Same structure for all 50 questions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Our extension: reliability per evidence item</a:t>
            </a:r>
            <a:endParaRPr lang="en-US" sz="2400" dirty="0"/>
          </a:p>
        </p:txBody>
      </p:sp>
      <p:sp>
        <p:nvSpPr>
          <p:cNvPr id="3" name="Flow 1"/>
          <p:cNvSpPr/>
          <p:nvPr/>
        </p:nvSpPr>
        <p:spPr>
          <a:xfrm>
            <a:off x="457200" y="1234440"/>
            <a:ext cx="187452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ow text 1"/>
          <p:cNvSpPr txBox="1"/>
          <p:nvPr/>
        </p:nvSpPr>
        <p:spPr>
          <a:xfrm>
            <a:off x="548640" y="1280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Evidence Ei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observed</a:t>
            </a:r>
            <a:endParaRPr lang="en-US" sz="1400" dirty="0"/>
          </a:p>
        </p:txBody>
      </p:sp>
      <p:sp>
        <p:nvSpPr>
          <p:cNvPr id="5" name="Flow arrow 1"/>
          <p:cNvSpPr txBox="1"/>
          <p:nvPr/>
        </p:nvSpPr>
        <p:spPr>
          <a:xfrm>
            <a:off x="2331720" y="14630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›</a:t>
            </a:r>
            <a:endParaRPr lang="en-US" sz="2400" dirty="0"/>
          </a:p>
        </p:txBody>
      </p:sp>
      <p:sp>
        <p:nvSpPr>
          <p:cNvPr id="6" name="Flow 2"/>
          <p:cNvSpPr/>
          <p:nvPr/>
        </p:nvSpPr>
        <p:spPr>
          <a:xfrm>
            <a:off x="2578608" y="1234440"/>
            <a:ext cx="1874520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Flow text 2"/>
          <p:cNvSpPr txBox="1"/>
          <p:nvPr/>
        </p:nvSpPr>
        <p:spPr>
          <a:xfrm>
            <a:off x="2670048" y="1280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Reliability Ri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hidden, 0 to 1</a:t>
            </a:r>
            <a:endParaRPr lang="en-US" sz="1400" dirty="0"/>
          </a:p>
        </p:txBody>
      </p:sp>
      <p:sp>
        <p:nvSpPr>
          <p:cNvPr id="8" name="Flow arrow 2"/>
          <p:cNvSpPr txBox="1"/>
          <p:nvPr/>
        </p:nvSpPr>
        <p:spPr>
          <a:xfrm>
            <a:off x="4453128" y="14630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›</a:t>
            </a:r>
            <a:endParaRPr lang="en-US" sz="2400" dirty="0"/>
          </a:p>
        </p:txBody>
      </p:sp>
      <p:sp>
        <p:nvSpPr>
          <p:cNvPr id="9" name="Flow 3"/>
          <p:cNvSpPr/>
          <p:nvPr/>
        </p:nvSpPr>
        <p:spPr>
          <a:xfrm>
            <a:off x="4700016" y="1234440"/>
            <a:ext cx="187452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 text 3"/>
          <p:cNvSpPr txBox="1"/>
          <p:nvPr/>
        </p:nvSpPr>
        <p:spPr>
          <a:xfrm>
            <a:off x="4791456" y="1280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Hidden Z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reasoning facts</a:t>
            </a:r>
            <a:endParaRPr lang="en-US" sz="1400" dirty="0"/>
          </a:p>
        </p:txBody>
      </p:sp>
      <p:sp>
        <p:nvSpPr>
          <p:cNvPr id="11" name="Flow arrow 3"/>
          <p:cNvSpPr txBox="1"/>
          <p:nvPr/>
        </p:nvSpPr>
        <p:spPr>
          <a:xfrm>
            <a:off x="6574536" y="14630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›</a:t>
            </a:r>
            <a:endParaRPr lang="en-US" sz="2400" dirty="0"/>
          </a:p>
        </p:txBody>
      </p:sp>
      <p:sp>
        <p:nvSpPr>
          <p:cNvPr id="12" name="Flow 4"/>
          <p:cNvSpPr/>
          <p:nvPr/>
        </p:nvSpPr>
        <p:spPr>
          <a:xfrm>
            <a:off x="6821424" y="1234440"/>
            <a:ext cx="187452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Flow text 4"/>
          <p:cNvSpPr txBox="1"/>
          <p:nvPr/>
        </p:nvSpPr>
        <p:spPr>
          <a:xfrm>
            <a:off x="6912864" y="1280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Answer Y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with confidence</a:t>
            </a:r>
            <a:endParaRPr lang="en-US" sz="1400" dirty="0"/>
          </a:p>
        </p:txBody>
      </p:sp>
      <p:sp>
        <p:nvSpPr>
          <p:cNvPr id="14" name="Flow note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The question X also feeds Ri and Z. Ri = 0 means: ignore this evidence.</a:t>
            </a:r>
            <a:endParaRPr lang="en-US" sz="1200" dirty="0"/>
          </a:p>
        </p:txBody>
      </p:sp>
      <p:sp>
        <p:nvSpPr>
          <p:cNvPr id="15" name="New 1 card"/>
          <p:cNvSpPr/>
          <p:nvPr/>
        </p:nvSpPr>
        <p:spPr>
          <a:xfrm>
            <a:off x="457200" y="2880360"/>
            <a:ext cx="26060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ew 1 accent"/>
          <p:cNvSpPr/>
          <p:nvPr/>
        </p:nvSpPr>
        <p:spPr>
          <a:xfrm>
            <a:off x="457200" y="2880360"/>
            <a:ext cx="73152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New 1 text"/>
          <p:cNvSpPr txBox="1"/>
          <p:nvPr/>
        </p:nvSpPr>
        <p:spPr>
          <a:xfrm>
            <a:off x="685800" y="2971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NEW 1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Any number of evidence items</a:t>
            </a:r>
            <a:endParaRPr lang="en-US" sz="1400" dirty="0"/>
          </a:p>
        </p:txBody>
      </p:sp>
      <p:sp>
        <p:nvSpPr>
          <p:cNvPr id="18" name="New 2 card"/>
          <p:cNvSpPr/>
          <p:nvPr/>
        </p:nvSpPr>
        <p:spPr>
          <a:xfrm>
            <a:off x="3246120" y="2880360"/>
            <a:ext cx="26060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ew 2 accent"/>
          <p:cNvSpPr/>
          <p:nvPr/>
        </p:nvSpPr>
        <p:spPr>
          <a:xfrm>
            <a:off x="3246120" y="2880360"/>
            <a:ext cx="73152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New 2 text"/>
          <p:cNvSpPr txBox="1"/>
          <p:nvPr/>
        </p:nvSpPr>
        <p:spPr>
          <a:xfrm>
            <a:off x="3474720" y="2971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NEW 2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Reliability depends on the question</a:t>
            </a:r>
            <a:endParaRPr lang="en-US" sz="1400" dirty="0"/>
          </a:p>
        </p:txBody>
      </p:sp>
      <p:sp>
        <p:nvSpPr>
          <p:cNvPr id="21" name="New 3 card"/>
          <p:cNvSpPr/>
          <p:nvPr/>
        </p:nvSpPr>
        <p:spPr>
          <a:xfrm>
            <a:off x="6035040" y="2880360"/>
            <a:ext cx="26517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ew 3 accent"/>
          <p:cNvSpPr/>
          <p:nvPr/>
        </p:nvSpPr>
        <p:spPr>
          <a:xfrm>
            <a:off x="6035040" y="2880360"/>
            <a:ext cx="73152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New 3 text"/>
          <p:cNvSpPr txBox="1"/>
          <p:nvPr/>
        </p:nvSpPr>
        <p:spPr>
          <a:xfrm>
            <a:off x="6263640" y="2971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NEW 3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Sequential update and ΔC</a:t>
            </a:r>
            <a:endParaRPr lang="en-US" sz="1400" dirty="0"/>
          </a:p>
        </p:txBody>
      </p:sp>
      <p:sp>
        <p:nvSpPr>
          <p:cNvPr id="24" name="Base note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The base model already judges the caption (Z2) and detected text (Z3) for fixed sources.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Belief update rule</a:t>
            </a:r>
            <a:endParaRPr lang="en-US" sz="2400" dirty="0"/>
          </a:p>
        </p:txBody>
      </p:sp>
      <p:sp>
        <p:nvSpPr>
          <p:cNvPr id="3" name="Formula box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ormula"/>
          <p:cNvSpPr txBox="1"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α' = α + r·κ·s̄          π' = (1 − w)·π + w·s̄          w = rκ / (A + rκ)</a:t>
            </a:r>
            <a:endParaRPr lang="en-US" sz="1800" dirty="0"/>
          </a:p>
        </p:txBody>
      </p:sp>
      <p:sp>
        <p:nvSpPr>
          <p:cNvPr id="5" name="Irrelevant card"/>
          <p:cNvSpPr/>
          <p:nvPr/>
        </p:nvSpPr>
        <p:spPr>
          <a:xfrm>
            <a:off x="457200" y="2148840"/>
            <a:ext cx="393192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rrelevant accent"/>
          <p:cNvSpPr/>
          <p:nvPr/>
        </p:nvSpPr>
        <p:spPr>
          <a:xfrm>
            <a:off x="457200" y="2148840"/>
            <a:ext cx="73152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Irrelevant text"/>
          <p:cNvSpPr txBox="1"/>
          <p:nvPr/>
        </p:nvSpPr>
        <p:spPr>
          <a:xfrm>
            <a:off x="68580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IRRELEVANT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 = 0: no change</a:t>
            </a:r>
            <a:endParaRPr lang="en-US" sz="1400" dirty="0"/>
          </a:p>
        </p:txBody>
      </p:sp>
      <p:sp>
        <p:nvSpPr>
          <p:cNvPr id="8" name="Direction card"/>
          <p:cNvSpPr/>
          <p:nvPr/>
        </p:nvSpPr>
        <p:spPr>
          <a:xfrm>
            <a:off x="457200" y="3017520"/>
            <a:ext cx="393192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irection accent"/>
          <p:cNvSpPr/>
          <p:nvPr/>
        </p:nvSpPr>
        <p:spPr>
          <a:xfrm>
            <a:off x="457200" y="3017520"/>
            <a:ext cx="73152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Direction text"/>
          <p:cNvSpPr txBox="1"/>
          <p:nvPr/>
        </p:nvSpPr>
        <p:spPr>
          <a:xfrm>
            <a:off x="68580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DIRECTION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Support raises belief, contradiction lowers it</a:t>
            </a:r>
            <a:endParaRPr lang="en-US" sz="1400" dirty="0"/>
          </a:p>
        </p:txBody>
      </p:sp>
      <p:sp>
        <p:nvSpPr>
          <p:cNvPr id="11" name="Bounded card"/>
          <p:cNvSpPr/>
          <p:nvPr/>
        </p:nvSpPr>
        <p:spPr>
          <a:xfrm>
            <a:off x="457200" y="3886200"/>
            <a:ext cx="393192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ounded accent"/>
          <p:cNvSpPr/>
          <p:nvPr/>
        </p:nvSpPr>
        <p:spPr>
          <a:xfrm>
            <a:off x="457200" y="3886200"/>
            <a:ext cx="73152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Bounded text"/>
          <p:cNvSpPr txBox="1"/>
          <p:nvPr/>
        </p:nvSpPr>
        <p:spPr>
          <a:xfrm>
            <a:off x="685800" y="3977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BOUNDED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item moves belief by at most w</a:t>
            </a:r>
            <a:endParaRPr lang="en-US" sz="1400" dirty="0"/>
          </a:p>
        </p:txBody>
      </p:sp>
      <p:sp>
        <p:nvSpPr>
          <p:cNvPr id="14" name="Example heading"/>
          <p:cNvSpPr txBox="1"/>
          <p:nvPr/>
        </p:nvSpPr>
        <p:spPr>
          <a:xfrm>
            <a:off x="475488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Worked example</a:t>
            </a:r>
            <a:endParaRPr lang="en-US" sz="1300" dirty="0"/>
          </a:p>
        </p:txBody>
      </p:sp>
      <p:graphicFrame>
        <p:nvGraphicFramePr>
          <p:cNvPr id="15" name="Worked examp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514600"/>
          <a:ext cx="3931920" cy="14630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Class 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Class 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Class 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0.625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0.313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0.063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After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0.588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0.353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0.059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Change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−0.037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+0.040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−0.004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Example note"/>
          <p:cNvSpPr txBox="1"/>
          <p:nvPr/>
        </p:nvSpPr>
        <p:spPr>
          <a:xfrm>
            <a:off x="475488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Evidence supports class 2, r = 0.5. Direct and closed-form results agree.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Pipeline and setup</a:t>
            </a:r>
            <a:endParaRPr lang="en-US" sz="2400" dirty="0"/>
          </a:p>
        </p:txBody>
      </p:sp>
      <p:sp>
        <p:nvSpPr>
          <p:cNvPr id="3" name="Step 1"/>
          <p:cNvSpPr/>
          <p:nvPr/>
        </p:nvSpPr>
        <p:spPr>
          <a:xfrm>
            <a:off x="457200" y="1234440"/>
            <a:ext cx="187452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text 1"/>
          <p:cNvSpPr txBox="1"/>
          <p:nvPr/>
        </p:nvSpPr>
        <p:spPr>
          <a:xfrm>
            <a:off x="548640" y="1280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ScienceQA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50 questions</a:t>
            </a:r>
            <a:endParaRPr lang="en-US" sz="1400" dirty="0"/>
          </a:p>
        </p:txBody>
      </p:sp>
      <p:sp>
        <p:nvSpPr>
          <p:cNvPr id="5" name="Arrow 1"/>
          <p:cNvSpPr txBox="1"/>
          <p:nvPr/>
        </p:nvSpPr>
        <p:spPr>
          <a:xfrm>
            <a:off x="2331720" y="14630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›</a:t>
            </a:r>
            <a:endParaRPr lang="en-US" sz="2400" dirty="0"/>
          </a:p>
        </p:txBody>
      </p:sp>
      <p:sp>
        <p:nvSpPr>
          <p:cNvPr id="6" name="Step 2"/>
          <p:cNvSpPr/>
          <p:nvPr/>
        </p:nvSpPr>
        <p:spPr>
          <a:xfrm>
            <a:off x="2578608" y="1234440"/>
            <a:ext cx="187452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ep text 2"/>
          <p:cNvSpPr txBox="1"/>
          <p:nvPr/>
        </p:nvSpPr>
        <p:spPr>
          <a:xfrm>
            <a:off x="2670048" y="1280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Llama-3-8B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transformers, GPU+CPU</a:t>
            </a:r>
            <a:endParaRPr lang="en-US" sz="1400" dirty="0"/>
          </a:p>
        </p:txBody>
      </p:sp>
      <p:sp>
        <p:nvSpPr>
          <p:cNvPr id="8" name="Arrow 2"/>
          <p:cNvSpPr txBox="1"/>
          <p:nvPr/>
        </p:nvSpPr>
        <p:spPr>
          <a:xfrm>
            <a:off x="4453128" y="14630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›</a:t>
            </a:r>
            <a:endParaRPr lang="en-US" sz="2400" dirty="0"/>
          </a:p>
        </p:txBody>
      </p:sp>
      <p:sp>
        <p:nvSpPr>
          <p:cNvPr id="9" name="Step 3"/>
          <p:cNvSpPr/>
          <p:nvPr/>
        </p:nvSpPr>
        <p:spPr>
          <a:xfrm>
            <a:off x="4700016" y="1234440"/>
            <a:ext cx="187452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 text 3"/>
          <p:cNvSpPr txBox="1"/>
          <p:nvPr/>
        </p:nvSpPr>
        <p:spPr>
          <a:xfrm>
            <a:off x="4791456" y="1280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Methods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vPGM-N3, CoT, Chameleon</a:t>
            </a:r>
            <a:endParaRPr lang="en-US" sz="1400" dirty="0"/>
          </a:p>
        </p:txBody>
      </p:sp>
      <p:sp>
        <p:nvSpPr>
          <p:cNvPr id="11" name="Arrow 3"/>
          <p:cNvSpPr txBox="1"/>
          <p:nvPr/>
        </p:nvSpPr>
        <p:spPr>
          <a:xfrm>
            <a:off x="6574536" y="14630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›</a:t>
            </a:r>
            <a:endParaRPr lang="en-US" sz="2400" dirty="0"/>
          </a:p>
        </p:txBody>
      </p:sp>
      <p:sp>
        <p:nvSpPr>
          <p:cNvPr id="12" name="Step 4"/>
          <p:cNvSpPr/>
          <p:nvPr/>
        </p:nvSpPr>
        <p:spPr>
          <a:xfrm>
            <a:off x="6821424" y="1234440"/>
            <a:ext cx="187452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text 4"/>
          <p:cNvSpPr txBox="1"/>
          <p:nvPr/>
        </p:nvSpPr>
        <p:spPr>
          <a:xfrm>
            <a:off x="6912864" y="1280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Metrics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Accuracy, ECE</a:t>
            </a:r>
            <a:endParaRPr lang="en-US" sz="1400" dirty="0"/>
          </a:p>
        </p:txBody>
      </p:sp>
      <p:sp>
        <p:nvSpPr>
          <p:cNvPr id="14" name="Same box"/>
          <p:cNvSpPr/>
          <p:nvPr/>
        </p:nvSpPr>
        <p:spPr>
          <a:xfrm>
            <a:off x="457200" y="2697480"/>
            <a:ext cx="2606040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ame text"/>
          <p:cNvSpPr txBox="1"/>
          <p:nvPr/>
        </p:nvSpPr>
        <p:spPr>
          <a:xfrm>
            <a:off x="548640" y="2743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Same 50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questions, model, metric script</a:t>
            </a:r>
            <a:endParaRPr lang="en-US" sz="1400" dirty="0"/>
          </a:p>
        </p:txBody>
      </p:sp>
      <p:sp>
        <p:nvSpPr>
          <p:cNvPr id="16" name="Time box"/>
          <p:cNvSpPr/>
          <p:nvPr/>
        </p:nvSpPr>
        <p:spPr>
          <a:xfrm>
            <a:off x="3246120" y="2697480"/>
            <a:ext cx="2606040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ime text"/>
          <p:cNvSpPr txBox="1"/>
          <p:nvPr/>
        </p:nvSpPr>
        <p:spPr>
          <a:xfrm>
            <a:off x="3337560" y="2743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19 h 56 min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vPGM-N3 on 50 questions</a:t>
            </a:r>
            <a:endParaRPr lang="en-US" sz="1400" dirty="0"/>
          </a:p>
        </p:txBody>
      </p:sp>
      <p:sp>
        <p:nvSpPr>
          <p:cNvPr id="18" name="PerQ box"/>
          <p:cNvSpPr/>
          <p:nvPr/>
        </p:nvSpPr>
        <p:spPr>
          <a:xfrm>
            <a:off x="6035040" y="2697480"/>
            <a:ext cx="2651760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PerQ text"/>
          <p:cNvSpPr txBox="1"/>
          <p:nvPr/>
        </p:nvSpPr>
        <p:spPr>
          <a:xfrm>
            <a:off x="6126480" y="27432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≈ 24 min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per question</a:t>
            </a:r>
            <a:endParaRPr lang="en-US" sz="1400" dirty="0"/>
          </a:p>
        </p:txBody>
      </p:sp>
      <p:sp>
        <p:nvSpPr>
          <p:cNvPr id="20" name="Backend note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vLLM replaced by transformers (old GPU driver). Prompts and logic unchanged.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Results on 50 ScienceQA questions</a:t>
            </a:r>
            <a:endParaRPr lang="en-US" sz="2400" dirty="0"/>
          </a:p>
        </p:txBody>
      </p:sp>
      <p:graphicFrame>
        <p:nvGraphicFramePr>
          <p:cNvPr id="7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13167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ECE (×10²)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86%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13.35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Chameleon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82%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11.19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vPGM-N3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9.79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Acc box"/>
          <p:cNvSpPr/>
          <p:nvPr/>
        </p:nvSpPr>
        <p:spPr>
          <a:xfrm>
            <a:off x="5852160" y="1097280"/>
            <a:ext cx="1371600" cy="131673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cc text"/>
          <p:cNvSpPr txBox="1"/>
          <p:nvPr/>
        </p:nvSpPr>
        <p:spPr>
          <a:xfrm>
            <a:off x="5943600" y="1143000"/>
            <a:ext cx="1188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90%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accuracy</a:t>
            </a:r>
            <a:endParaRPr lang="en-US" sz="1400" dirty="0"/>
          </a:p>
        </p:txBody>
      </p:sp>
      <p:sp>
        <p:nvSpPr>
          <p:cNvPr id="6" name="ECE box"/>
          <p:cNvSpPr/>
          <p:nvPr/>
        </p:nvSpPr>
        <p:spPr>
          <a:xfrm>
            <a:off x="7315200" y="1097280"/>
            <a:ext cx="1371600" cy="131673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CE text"/>
          <p:cNvSpPr txBox="1"/>
          <p:nvPr/>
        </p:nvSpPr>
        <p:spPr>
          <a:xfrm>
            <a:off x="7406640" y="1143000"/>
            <a:ext cx="1188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9.79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ECE ×10²</a:t>
            </a:r>
            <a:endParaRPr lang="en-US" sz="1400" dirty="0"/>
          </a:p>
        </p:txBody>
      </p:sp>
      <p:pic>
        <p:nvPicPr>
          <p:cNvPr id="8" name="Reliability diagram CoT" descr="fig_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2011680" cy="2011680"/>
          </a:xfrm>
          <a:prstGeom prst="rect">
            <a:avLst/>
          </a:prstGeom>
        </p:spPr>
      </p:pic>
      <p:pic>
        <p:nvPicPr>
          <p:cNvPr id="9" name="Reliability diagram Chameleon" descr="fig_ch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2560320"/>
            <a:ext cx="2011680" cy="2011680"/>
          </a:xfrm>
          <a:prstGeom prst="rect">
            <a:avLst/>
          </a:prstGeom>
        </p:spPr>
      </p:pic>
      <p:pic>
        <p:nvPicPr>
          <p:cNvPr id="10" name="Reliability diagram vPGM-N3" descr="fig_vpg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560320"/>
            <a:ext cx="2011680" cy="2011680"/>
          </a:xfrm>
          <a:prstGeom prst="rect">
            <a:avLst/>
          </a:prstGeom>
        </p:spPr>
      </p:pic>
      <p:sp>
        <p:nvSpPr>
          <p:cNvPr id="11" name="Caveat"/>
          <p:cNvSpPr txBox="1"/>
          <p:nvPr/>
        </p:nvSpPr>
        <p:spPr>
          <a:xfrm>
            <a:off x="7132320" y="29260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N = 50: intervals overlap, so differences are not significant.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Limitations and next steps</a:t>
            </a:r>
            <a:endParaRPr lang="en-US" sz="2400" dirty="0"/>
          </a:p>
        </p:txBody>
      </p:sp>
      <p:sp>
        <p:nvSpPr>
          <p:cNvPr id="3" name="Limitations header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Limitations title"/>
          <p:cNvSpPr txBox="1"/>
          <p:nvPr/>
        </p:nvSpPr>
        <p:spPr>
          <a:xfrm>
            <a:off x="566928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5" name="Limitations points"/>
          <p:cNvSpPr txBox="1"/>
          <p:nvPr/>
        </p:nvSpPr>
        <p:spPr>
          <a:xfrm>
            <a:off x="457200" y="17830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Only 50 questions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 samples vs 1 for baselines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model, one run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Extension not yet run on the LLM</a:t>
            </a:r>
            <a:endParaRPr lang="en-US" sz="1800" dirty="0"/>
          </a:p>
        </p:txBody>
      </p:sp>
      <p:sp>
        <p:nvSpPr>
          <p:cNvPr id="6" name="Next (M3) header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ext (M3) title"/>
          <p:cNvSpPr txBox="1"/>
          <p:nvPr/>
        </p:nvSpPr>
        <p:spPr>
          <a:xfrm>
            <a:off x="4773168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Next (M3)</a:t>
            </a:r>
            <a:endParaRPr lang="en-US" sz="1500" dirty="0"/>
          </a:p>
        </p:txBody>
      </p:sp>
      <p:sp>
        <p:nvSpPr>
          <p:cNvPr id="8" name="Next (M3) points"/>
          <p:cNvSpPr txBox="1"/>
          <p:nvPr/>
        </p:nvSpPr>
        <p:spPr>
          <a:xfrm>
            <a:off x="4663440" y="17830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Fit λ offline (BayesVPGM)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Code the update rule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Evidence experiments: measure ΔC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Ablations and A-OKVQA</a:t>
            </a:r>
            <a:endParaRPr lang="en-US" sz="1800" dirty="0"/>
          </a:p>
        </p:txBody>
      </p:sp>
      <p:sp>
        <p:nvSpPr>
          <p:cNvPr id="9" name="Closing banner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losing text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Foundation in place: pipeline runs, baselines measured, extension formalised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77F93C-7DDF-222D-8BFD-2CB0D6CC2FD0}"/>
              </a:ext>
            </a:extLst>
          </p:cNvPr>
          <p:cNvSpPr txBox="1"/>
          <p:nvPr/>
        </p:nvSpPr>
        <p:spPr>
          <a:xfrm>
            <a:off x="440055" y="171450"/>
            <a:ext cx="8161020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025" b="1">
                <a:solidFill>
                  <a:srgbClr val="232323"/>
                </a:solidFill>
                <a:latin typeface="Aptos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3AD16-2CFF-5204-C6E1-CBC401626E54}"/>
              </a:ext>
            </a:extLst>
          </p:cNvPr>
          <p:cNvSpPr txBox="1"/>
          <p:nvPr/>
        </p:nvSpPr>
        <p:spPr>
          <a:xfrm>
            <a:off x="8326755" y="4766311"/>
            <a:ext cx="37719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sz="825">
                <a:solidFill>
                  <a:srgbClr val="646464"/>
                </a:solidFill>
                <a:latin typeface="Aptos"/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E91CB-E5BD-65AC-4238-F4B43822A94C}"/>
              </a:ext>
            </a:extLst>
          </p:cNvPr>
          <p:cNvSpPr txBox="1"/>
          <p:nvPr/>
        </p:nvSpPr>
        <p:spPr>
          <a:xfrm>
            <a:off x="577215" y="754380"/>
            <a:ext cx="78867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200" dirty="0">
                <a:solidFill>
                  <a:srgbClr val="232323"/>
                </a:solidFill>
                <a:latin typeface="Aptos"/>
              </a:rPr>
              <a:t>[1] H. Huang et al., "</a:t>
            </a:r>
            <a:r>
              <a:rPr sz="1200" dirty="0" err="1">
                <a:solidFill>
                  <a:srgbClr val="232323"/>
                </a:solidFill>
                <a:latin typeface="Aptos"/>
              </a:rPr>
              <a:t>BayesAgent</a:t>
            </a:r>
            <a:r>
              <a:rPr sz="1200" dirty="0">
                <a:solidFill>
                  <a:srgbClr val="232323"/>
                </a:solidFill>
                <a:latin typeface="Aptos"/>
              </a:rPr>
              <a:t>: Bayesian Agentic Reasoning Under Uncertainty via Verbalized Probabilistic Graphical Modeling," AAAI, 2026.
[2] J. Wei et al., "Chain-of-Thought Prompting Elicits Reasoning in Large Language Models," </a:t>
            </a:r>
            <a:r>
              <a:rPr sz="1200" dirty="0" err="1">
                <a:solidFill>
                  <a:srgbClr val="232323"/>
                </a:solidFill>
                <a:latin typeface="Aptos"/>
              </a:rPr>
              <a:t>NeurIPS</a:t>
            </a:r>
            <a:r>
              <a:rPr sz="1200" dirty="0">
                <a:solidFill>
                  <a:srgbClr val="232323"/>
                </a:solidFill>
                <a:latin typeface="Aptos"/>
              </a:rPr>
              <a:t>, 2022.
[3] C. Guo et al., "On Calibration of Modern Neural Networks," ICML, 2017.
[4] P. Lu et al., "Learn to Explain: Multimodal Reasoning via Thought Chains for Science Question Answering," </a:t>
            </a:r>
            <a:r>
              <a:rPr sz="1200" dirty="0" err="1">
                <a:solidFill>
                  <a:srgbClr val="232323"/>
                </a:solidFill>
                <a:latin typeface="Aptos"/>
              </a:rPr>
              <a:t>NeurIPS</a:t>
            </a:r>
            <a:r>
              <a:rPr sz="1200" dirty="0">
                <a:solidFill>
                  <a:srgbClr val="232323"/>
                </a:solidFill>
                <a:latin typeface="Aptos"/>
              </a:rPr>
              <a:t>, 2022.
[5] A. Xiong et al., "Can LLMs Express Their Uncertainty? An Empirical Evaluation of Confidence Elicitation," 2023.
[6] Qiu et al., "Bayesian Teaching Enables Probabilistic Reasoning in LLMs," Nature Communications, 2026.
[7] Microsoft Research, "Is In-Context Learning in Large Language Models Bayesian? A Martingale Perspective."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2 Formal">
  <a:themeElements>
    <a:clrScheme name="M2 Formal">
      <a:dk1>
        <a:srgbClr val="1F2937"/>
      </a:dk1>
      <a:lt1>
        <a:srgbClr val="FFFFFF"/>
      </a:lt1>
      <a:dk2>
        <a:srgbClr val="1F3A5F"/>
      </a:dk2>
      <a:lt2>
        <a:srgbClr val="F1F4F8"/>
      </a:lt2>
      <a:accent1>
        <a:srgbClr val="1F3A5F"/>
      </a:accent1>
      <a:accent2>
        <a:srgbClr val="2F6DB5"/>
      </a:accent2>
      <a:accent3>
        <a:srgbClr val="6B7280"/>
      </a:accent3>
      <a:accent4>
        <a:srgbClr val="9CA3AF"/>
      </a:accent4>
      <a:accent5>
        <a:srgbClr val="B45309"/>
      </a:accent5>
      <a:accent6>
        <a:srgbClr val="15803D"/>
      </a:accent6>
      <a:hlink>
        <a:srgbClr val="2F6DB5"/>
      </a:hlink>
      <a:folHlink>
        <a:srgbClr val="6B7280"/>
      </a:folHlink>
    </a:clrScheme>
    <a:fontScheme name="M2 Form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22</TotalTime>
  <Words>638</Words>
  <Application>Microsoft Office PowerPoint</Application>
  <PresentationFormat>On-screen Show (16:9)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Helvetica Neue</vt:lpstr>
      <vt:lpstr>Helvetica Neue Light</vt:lpstr>
      <vt:lpstr>Times New Roman</vt:lpstr>
      <vt:lpstr>M2 Formal</vt:lpstr>
      <vt:lpstr>Office Theme</vt:lpstr>
      <vt:lpstr>Student: Dhvanit Mahesuriya (AU2440039) Programme: B.Tech CSE Domain: Bayesian LLM reasoning Date: 15th October 2026   </vt:lpstr>
      <vt:lpstr>Base model: vPGM-N3 on ScienceQA</vt:lpstr>
      <vt:lpstr>Our extension: reliability per evidence item</vt:lpstr>
      <vt:lpstr>Belief update rule</vt:lpstr>
      <vt:lpstr>Pipeline and setup</vt:lpstr>
      <vt:lpstr>Results on 50 ScienceQA questions</vt:lpstr>
      <vt:lpstr>Limitations and next steps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Technical Foundation</dc:title>
  <dc:subject>PptxGenJS Presentation</dc:subject>
  <dc:creator>Dhvanit Mahesuriya</dc:creator>
  <cp:lastModifiedBy>Dhvanit Mahesuriya</cp:lastModifiedBy>
  <cp:revision>2</cp:revision>
  <dcterms:created xsi:type="dcterms:W3CDTF">2026-10-15T10:19:46Z</dcterms:created>
  <dcterms:modified xsi:type="dcterms:W3CDTF">2026-10-15T10:51:02Z</dcterms:modified>
</cp:coreProperties>
</file>